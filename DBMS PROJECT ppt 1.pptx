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5"/>
  </p:notesMasterIdLst>
  <p:handoutMasterIdLst>
    <p:handoutMasterId r:id="rId16"/>
  </p:handoutMasterIdLst>
  <p:sldIdLst>
    <p:sldId id="258" r:id="rId3"/>
    <p:sldId id="377" r:id="rId4"/>
    <p:sldId id="391" r:id="rId5"/>
    <p:sldId id="392" r:id="rId6"/>
    <p:sldId id="393" r:id="rId7"/>
    <p:sldId id="394" r:id="rId8"/>
    <p:sldId id="395" r:id="rId9"/>
    <p:sldId id="396" r:id="rId10"/>
    <p:sldId id="398" r:id="rId11"/>
    <p:sldId id="397" r:id="rId12"/>
    <p:sldId id="374" r:id="rId13"/>
    <p:sldId id="33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p:cViewPr varScale="1">
        <p:scale>
          <a:sx n="69" d="100"/>
          <a:sy n="69" d="100"/>
        </p:scale>
        <p:origin x="52" y="6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myneni71@outlook.com" userId="3ceb812c59696e09" providerId="LiveId" clId="{C5B3A1D8-DCB3-4EBA-9D85-DF0672A15671}"/>
    <pc:docChg chg="undo custSel modSld">
      <pc:chgData name="vmyneni71@outlook.com" userId="3ceb812c59696e09" providerId="LiveId" clId="{C5B3A1D8-DCB3-4EBA-9D85-DF0672A15671}" dt="2026-10-03T05:02:48.930" v="266" actId="207"/>
      <pc:docMkLst>
        <pc:docMk/>
      </pc:docMkLst>
      <pc:sldChg chg="modSp mod">
        <pc:chgData name="vmyneni71@outlook.com" userId="3ceb812c59696e09" providerId="LiveId" clId="{C5B3A1D8-DCB3-4EBA-9D85-DF0672A15671}" dt="2026-10-03T05:00:12.403" v="116" actId="20577"/>
        <pc:sldMkLst>
          <pc:docMk/>
          <pc:sldMk cId="3362554174" sldId="258"/>
        </pc:sldMkLst>
        <pc:graphicFrameChg chg="modGraphic">
          <ac:chgData name="vmyneni71@outlook.com" userId="3ceb812c59696e09" providerId="LiveId" clId="{C5B3A1D8-DCB3-4EBA-9D85-DF0672A15671}" dt="2026-10-03T05:00:12.403" v="116" actId="20577"/>
          <ac:graphicFrameMkLst>
            <pc:docMk/>
            <pc:sldMk cId="3362554174" sldId="258"/>
            <ac:graphicFrameMk id="12" creationId="{F5C1A452-4633-BB68-A150-FAF552C36CB9}"/>
          </ac:graphicFrameMkLst>
        </pc:graphicFrameChg>
      </pc:sldChg>
      <pc:sldChg chg="modSp mod">
        <pc:chgData name="vmyneni71@outlook.com" userId="3ceb812c59696e09" providerId="LiveId" clId="{C5B3A1D8-DCB3-4EBA-9D85-DF0672A15671}" dt="2026-10-03T05:02:48.930" v="266" actId="207"/>
        <pc:sldMkLst>
          <pc:docMk/>
          <pc:sldMk cId="1183936719" sldId="377"/>
        </pc:sldMkLst>
        <pc:graphicFrameChg chg="modGraphic">
          <ac:chgData name="vmyneni71@outlook.com" userId="3ceb812c59696e09" providerId="LiveId" clId="{C5B3A1D8-DCB3-4EBA-9D85-DF0672A15671}" dt="2026-10-03T05:02:48.930" v="266" actId="207"/>
          <ac:graphicFrameMkLst>
            <pc:docMk/>
            <pc:sldMk cId="1183936719" sldId="377"/>
            <ac:graphicFrameMk id="7" creationId="{BD94FEB8-52D1-2D12-5891-6583D8FD44BE}"/>
          </ac:graphicFrameMkLst>
        </pc:graphicFrameChg>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10/3/2026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10/3/2026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03-10-2026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03-10-2026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03-10-2026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03-10-2026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03-10-2026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03-10-2026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03-10-2026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03-10-2026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03-10-2026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03-10-2026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03-10-2026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03-10-2026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03-10-2026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03-10-2026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03-10-2026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03-10-2026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03-10-2026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03-10-2026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sz="2400" dirty="0">
                <a:solidFill>
                  <a:schemeClr val="tx2"/>
                </a:solidFill>
                <a:latin typeface="+mn-lt"/>
                <a:cs typeface="Arial" panose="020B0604020202020204" pitchFamily="34" charset="0"/>
              </a:rPr>
              <a:t>H</a:t>
            </a:r>
            <a:r>
              <a:rPr lang="en-US" sz="2400" dirty="0">
                <a:solidFill>
                  <a:srgbClr val="002060"/>
                </a:solidFill>
                <a:latin typeface="+mn-lt"/>
                <a:cs typeface="Arial" panose="020B0604020202020204" pitchFamily="34" charset="0"/>
              </a:rPr>
              <a:t>OSPITAL MANAGEMENT &amp; APPOINTMENT SYSTEM</a:t>
            </a:r>
            <a:br>
              <a:rPr lang="en-US" sz="2400" b="1" dirty="0">
                <a:solidFill>
                  <a:srgbClr val="011893"/>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endParaRPr lang="en-US" dirty="0"/>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S. Spandana</a:t>
            </a:r>
          </a:p>
          <a:p>
            <a:pPr marL="0" indent="0" algn="ctr">
              <a:buFont typeface="Arial" panose="020B0604020202020204" pitchFamily="34" charset="0"/>
              <a:buNone/>
            </a:pPr>
            <a:r>
              <a:rPr lang="en-US" sz="2400" dirty="0" err="1">
                <a:solidFill>
                  <a:srgbClr val="00B050"/>
                </a:solidFill>
              </a:rPr>
              <a:t>Assitant</a:t>
            </a:r>
            <a:r>
              <a:rPr lang="en-US" sz="2400" dirty="0">
                <a:solidFill>
                  <a:srgbClr val="00B050"/>
                </a:solidFill>
              </a:rPr>
              <a: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194878047"/>
              </p:ext>
            </p:extLst>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370840">
                <a:tc>
                  <a:txBody>
                    <a:bodyPr/>
                    <a:lstStyle/>
                    <a:p>
                      <a:r>
                        <a:rPr lang="en-US" dirty="0"/>
                        <a:t>Name1 </a:t>
                      </a:r>
                      <a:r>
                        <a:rPr lang="en-US" dirty="0" err="1"/>
                        <a:t>Nuguri</a:t>
                      </a:r>
                      <a:r>
                        <a:rPr lang="en-US" dirty="0"/>
                        <a:t> Siri</a:t>
                      </a:r>
                    </a:p>
                  </a:txBody>
                  <a:tcPr/>
                </a:tc>
                <a:tc>
                  <a:txBody>
                    <a:bodyPr/>
                    <a:lstStyle/>
                    <a:p>
                      <a:r>
                        <a:rPr lang="en-US" dirty="0"/>
                        <a:t>Roll no 2520030309</a:t>
                      </a:r>
                    </a:p>
                  </a:txBody>
                  <a:tcPr/>
                </a:tc>
                <a:extLst>
                  <a:ext uri="{0D108BD9-81ED-4DB2-BD59-A6C34878D82A}">
                    <a16:rowId xmlns:a16="http://schemas.microsoft.com/office/drawing/2014/main" val="253518174"/>
                  </a:ext>
                </a:extLst>
              </a:tr>
              <a:tr h="370840">
                <a:tc>
                  <a:txBody>
                    <a:bodyPr/>
                    <a:lstStyle/>
                    <a:p>
                      <a:r>
                        <a:rPr lang="en-US" dirty="0"/>
                        <a:t>Name2 M. Geethika</a:t>
                      </a:r>
                    </a:p>
                  </a:txBody>
                  <a:tcPr/>
                </a:tc>
                <a:tc>
                  <a:txBody>
                    <a:bodyPr/>
                    <a:lstStyle/>
                    <a:p>
                      <a:r>
                        <a:rPr lang="en-US" dirty="0"/>
                        <a:t>Roll no 2520030485</a:t>
                      </a:r>
                    </a:p>
                  </a:txBody>
                  <a:tcPr/>
                </a:tc>
                <a:extLst>
                  <a:ext uri="{0D108BD9-81ED-4DB2-BD59-A6C34878D82A}">
                    <a16:rowId xmlns:a16="http://schemas.microsoft.com/office/drawing/2014/main" val="2413438055"/>
                  </a:ext>
                </a:extLst>
              </a:tr>
              <a:tr h="370840">
                <a:tc>
                  <a:txBody>
                    <a:bodyPr/>
                    <a:lstStyle/>
                    <a:p>
                      <a:r>
                        <a:rPr lang="en-US" dirty="0"/>
                        <a:t>Name3 Bharadwaj Reddy</a:t>
                      </a:r>
                    </a:p>
                  </a:txBody>
                  <a:tcPr/>
                </a:tc>
                <a:tc>
                  <a:txBody>
                    <a:bodyPr/>
                    <a:lstStyle/>
                    <a:p>
                      <a:r>
                        <a:rPr lang="en-US" dirty="0"/>
                        <a:t>Roll no 2520030533</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NUMBER:3</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2246102840"/>
              </p:ext>
            </p:extLst>
          </p:nvPr>
        </p:nvGraphicFramePr>
        <p:xfrm>
          <a:off x="838199" y="1416193"/>
          <a:ext cx="10515600" cy="4197490"/>
        </p:xfrm>
        <a:graphic>
          <a:graphicData uri="http://schemas.openxmlformats.org/drawingml/2006/table">
            <a:tbl>
              <a:tblPr firstRow="1" bandRow="1">
                <a:tableStyleId>{5A111915-BE36-4E01-A7E5-04B1672EAD32}</a:tableStyleId>
              </a:tblPr>
              <a:tblGrid>
                <a:gridCol w="5257800">
                  <a:extLst>
                    <a:ext uri="{9D8B030D-6E8A-4147-A177-3AD203B41FA5}">
                      <a16:colId xmlns:a16="http://schemas.microsoft.com/office/drawing/2014/main" val="446563831"/>
                    </a:ext>
                  </a:extLst>
                </a:gridCol>
                <a:gridCol w="5257800">
                  <a:extLst>
                    <a:ext uri="{9D8B030D-6E8A-4147-A177-3AD203B41FA5}">
                      <a16:colId xmlns:a16="http://schemas.microsoft.com/office/drawing/2014/main" val="4175382372"/>
                    </a:ext>
                  </a:extLst>
                </a:gridCol>
              </a:tblGrid>
              <a:tr h="418444">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629841">
                <a:tc>
                  <a:txBody>
                    <a:bodyPr/>
                    <a:lstStyle/>
                    <a:p>
                      <a:r>
                        <a:rPr lang="en-US" dirty="0"/>
                        <a:t>    </a:t>
                      </a:r>
                      <a:r>
                        <a:rPr lang="en-US" dirty="0" err="1"/>
                        <a:t>Nuguri</a:t>
                      </a:r>
                      <a:r>
                        <a:rPr lang="en-US" dirty="0"/>
                        <a:t> Siri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Worked On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629841">
                <a:tc>
                  <a:txBody>
                    <a:bodyPr/>
                    <a:lstStyle/>
                    <a:p>
                      <a:r>
                        <a:rPr lang="en-US" dirty="0"/>
                        <a:t>    M. Geethika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Abstract PPT &amp; Documentation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Bharadwaj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solidFill>
                            <a:schemeClr val="tx1">
                              <a:lumMod val="85000"/>
                              <a:lumOff val="15000"/>
                              <a:alpha val="31000"/>
                            </a:schemeClr>
                          </a:solidFill>
                        </a:rPr>
                        <a:t>Contributes in code and posters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r h="6298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121683"/>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8547911"/>
                  </a:ext>
                </a:extLst>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59374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838200" y="1560945"/>
            <a:ext cx="10515600" cy="4616018"/>
          </a:xfrm>
        </p:spPr>
        <p:txBody>
          <a:bodyPr/>
          <a:lstStyle/>
          <a:p>
            <a:r>
              <a:rPr lang="en-US" dirty="0"/>
              <a:t> Digitizes hospital operations by managing patient registration, appointments, doctor schedules, EMR, billing, and pharmacy services.</a:t>
            </a:r>
          </a:p>
          <a:p>
            <a:r>
              <a:rPr lang="en-US" dirty="0"/>
              <a:t> Provides an integrated platform for patients, doctors, and hospital staff to access and manage information efficiently.</a:t>
            </a:r>
          </a:p>
          <a:p>
            <a:r>
              <a:rPr lang="en-US" dirty="0"/>
              <a:t> Reduces manual work and waiting time while improving appointment management, record accuracy, and overall hospital efficiency.</a:t>
            </a:r>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p:txBody>
          <a:bodyPr/>
          <a:lstStyle/>
          <a:p>
            <a:r>
              <a:rPr lang="en-US" dirty="0"/>
              <a:t>The Hospital Management &amp; Appointment System is a web-based application developed to simplify and manage hospital activities digitally. It helps patients book appointments and manage their details, while doctors and staff can handle schedules, patient records, billing, and pharmacy services. The system provides a centralized platform that reduces paperwork, saves time, and improves the efficiency of hospital operations.</a:t>
            </a:r>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normAutofit lnSpcReduction="10000"/>
          </a:bodyPr>
          <a:lstStyle/>
          <a:p>
            <a:r>
              <a:rPr lang="en-US" dirty="0"/>
              <a:t>Hospitals mainly depend on manual or separate systems to manage patient and appointment information.</a:t>
            </a:r>
          </a:p>
          <a:p>
            <a:r>
              <a:rPr lang="en-US" dirty="0"/>
              <a:t>Patients often need to contact or visit the hospital to book appointments.</a:t>
            </a:r>
          </a:p>
          <a:p>
            <a:r>
              <a:rPr lang="en-US" dirty="0"/>
              <a:t>Patient records, billing, and pharmacy details may be maintained separately.</a:t>
            </a:r>
          </a:p>
          <a:p>
            <a:r>
              <a:rPr lang="en-US" dirty="0"/>
              <a:t>Doctors and staff may face difficulty in tracking schedules and patient information.</a:t>
            </a:r>
          </a:p>
          <a:p>
            <a:r>
              <a:rPr lang="en-US" dirty="0"/>
              <a:t>Overall, the existing system can be time-consuming, less organized, and prone to errors.</a:t>
            </a:r>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lstStyle/>
          <a:p>
            <a:r>
              <a:rPr lang="en-US" dirty="0"/>
              <a:t>Manual appointment booking causes delays and long waiting times.</a:t>
            </a:r>
          </a:p>
          <a:p>
            <a:r>
              <a:rPr lang="en-US" dirty="0"/>
              <a:t>Patient records are difficult to maintain and retrieve.</a:t>
            </a:r>
          </a:p>
          <a:p>
            <a:r>
              <a:rPr lang="en-US" dirty="0"/>
              <a:t>Appointment clashes may occur due to poor schedule management.</a:t>
            </a:r>
          </a:p>
          <a:p>
            <a:r>
              <a:rPr lang="en-US" dirty="0"/>
              <a:t>Separate billing and pharmacy records make management difficult.</a:t>
            </a:r>
          </a:p>
          <a:p>
            <a:r>
              <a:rPr lang="en-US" dirty="0"/>
              <a:t>Lack of a centralized system reduces overall hospital efficiency.</a:t>
            </a:r>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a:xfrm>
            <a:off x="838200" y="1570182"/>
            <a:ext cx="10515600" cy="4606781"/>
          </a:xfrm>
        </p:spPr>
        <p:txBody>
          <a:bodyPr>
            <a:normAutofit/>
          </a:bodyPr>
          <a:lstStyle/>
          <a:p>
            <a:r>
              <a:rPr lang="en-US" dirty="0"/>
              <a:t>Centralized hospital system to manage patients, doctors, appointments, billing, and pharmacy.</a:t>
            </a:r>
          </a:p>
          <a:p>
            <a:r>
              <a:rPr lang="en-US" dirty="0"/>
              <a:t>Online appointment booking to reduce waiting time and avoid schedule conflicts.</a:t>
            </a:r>
          </a:p>
          <a:p>
            <a:r>
              <a:rPr lang="en-US" dirty="0"/>
              <a:t> Digital patient records for easy storage, access, and updating of information.</a:t>
            </a:r>
          </a:p>
          <a:p>
            <a:r>
              <a:rPr lang="en-US" dirty="0"/>
              <a:t> Integrated modules improve coordination between patients, doctors, and hospital staff.</a:t>
            </a:r>
          </a:p>
          <a:p>
            <a:r>
              <a:rPr lang="en-US" dirty="0"/>
              <a:t> Reduces manual work and improves the overall efficiency of hospital management.</a:t>
            </a:r>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p:txBody>
          <a:bodyPr/>
          <a:lstStyle/>
          <a:p>
            <a:r>
              <a:rPr lang="en-US" dirty="0"/>
              <a:t>To digitize hospital management and reduce paperwork.</a:t>
            </a:r>
          </a:p>
          <a:p>
            <a:r>
              <a:rPr lang="en-US" dirty="0"/>
              <a:t>To provide easy online appointment booking.</a:t>
            </a:r>
          </a:p>
          <a:p>
            <a:r>
              <a:rPr lang="en-US" dirty="0"/>
              <a:t>To efficiently manage patient and doctor records.</a:t>
            </a:r>
          </a:p>
          <a:p>
            <a:r>
              <a:rPr lang="en-US" dirty="0"/>
              <a:t>To reduce waiting time and appointment conflicts.</a:t>
            </a:r>
          </a:p>
          <a:p>
            <a:r>
              <a:rPr lang="en-US" dirty="0"/>
              <a:t>To improve the overall efficiency and quality of hospital services</a:t>
            </a:r>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a:xfrm>
            <a:off x="838200" y="249383"/>
            <a:ext cx="10515600" cy="882794"/>
          </a:xfrm>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9</a:t>
            </a:fld>
            <a:endParaRPr lang="en-US"/>
          </a:p>
        </p:txBody>
      </p:sp>
      <p:sp>
        <p:nvSpPr>
          <p:cNvPr id="4" name="Content Placeholder 3">
            <a:extLst>
              <a:ext uri="{FF2B5EF4-FFF2-40B4-BE49-F238E27FC236}">
                <a16:creationId xmlns:a16="http://schemas.microsoft.com/office/drawing/2014/main" id="{D920CCCA-2419-39FC-4F64-F44FEFF2251C}"/>
              </a:ext>
            </a:extLst>
          </p:cNvPr>
          <p:cNvSpPr>
            <a:spLocks noGrp="1"/>
          </p:cNvSpPr>
          <p:nvPr>
            <p:ph idx="1"/>
          </p:nvPr>
        </p:nvSpPr>
        <p:spPr>
          <a:xfrm>
            <a:off x="838200" y="1311564"/>
            <a:ext cx="10515600" cy="4865399"/>
          </a:xfrm>
        </p:spPr>
        <p:txBody>
          <a:bodyPr>
            <a:normAutofit lnSpcReduction="10000"/>
          </a:bodyPr>
          <a:lstStyle/>
          <a:p>
            <a:pPr marL="0" indent="0">
              <a:buNone/>
            </a:pPr>
            <a:r>
              <a:rPr lang="en-US" dirty="0"/>
              <a:t>1</a:t>
            </a:r>
            <a:r>
              <a:rPr lang="en-US" sz="2400" dirty="0"/>
              <a:t>. User &amp; Authentication Module – Registration, login, and role-based access.</a:t>
            </a:r>
          </a:p>
          <a:p>
            <a:pPr marL="0" indent="0">
              <a:buNone/>
            </a:pPr>
            <a:r>
              <a:rPr lang="en-US" sz="2400" dirty="0"/>
              <a:t>2. Patient Management Module – Store and manage patient details and medical records.</a:t>
            </a:r>
          </a:p>
          <a:p>
            <a:pPr marL="0" indent="0">
              <a:buNone/>
            </a:pPr>
            <a:r>
              <a:rPr lang="en-US" sz="2400" dirty="0"/>
              <a:t>3. Doctor Management Module – Manage doctor profiles, specializations, and availability.</a:t>
            </a:r>
          </a:p>
          <a:p>
            <a:pPr marL="0" indent="0">
              <a:buNone/>
            </a:pPr>
            <a:r>
              <a:rPr lang="en-US" sz="2400" dirty="0"/>
              <a:t>4. Appointment Module – Book, update, cancel, and manage appointments.</a:t>
            </a:r>
          </a:p>
          <a:p>
            <a:pPr marL="0" indent="0">
              <a:buNone/>
            </a:pPr>
            <a:r>
              <a:rPr lang="en-US" sz="2400" dirty="0"/>
              <a:t>5. EMR Module – Store medical history, diagnosis, prescriptions, and treatment details.</a:t>
            </a:r>
          </a:p>
          <a:p>
            <a:pPr marL="0" indent="0">
              <a:buNone/>
            </a:pPr>
            <a:r>
              <a:rPr lang="en-US" sz="2400" dirty="0"/>
              <a:t>6. Billing Module – Manage bills, payments, and billing records.</a:t>
            </a:r>
          </a:p>
          <a:p>
            <a:pPr marL="0" indent="0">
              <a:buNone/>
            </a:pPr>
            <a:r>
              <a:rPr lang="en-US" sz="2400" dirty="0"/>
              <a:t>7. Pharmacy Module – Manage medicines, prescriptions, and medicine stock.</a:t>
            </a:r>
          </a:p>
          <a:p>
            <a:pPr marL="0" indent="0">
              <a:buNone/>
            </a:pPr>
            <a:r>
              <a:rPr lang="en-US" sz="2400" dirty="0"/>
              <a:t>8. Database Module – MySQL database for securely storing and retrieving all system data.</a:t>
            </a:r>
          </a:p>
        </p:txBody>
      </p:sp>
    </p:spTree>
    <p:extLst>
      <p:ext uri="{BB962C8B-B14F-4D97-AF65-F5344CB8AC3E}">
        <p14:creationId xmlns:p14="http://schemas.microsoft.com/office/powerpoint/2010/main" val="1063077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10</a:t>
            </a:fld>
            <a:endParaRPr lang="en-US"/>
          </a:p>
        </p:txBody>
      </p:sp>
      <p:sp>
        <p:nvSpPr>
          <p:cNvPr id="4" name="Content Placeholder 3">
            <a:extLst>
              <a:ext uri="{FF2B5EF4-FFF2-40B4-BE49-F238E27FC236}">
                <a16:creationId xmlns:a16="http://schemas.microsoft.com/office/drawing/2014/main" id="{68B3C331-E06F-D027-E4C0-6920D37072A9}"/>
              </a:ext>
            </a:extLst>
          </p:cNvPr>
          <p:cNvSpPr>
            <a:spLocks noGrp="1"/>
          </p:cNvSpPr>
          <p:nvPr>
            <p:ph idx="1"/>
          </p:nvPr>
        </p:nvSpPr>
        <p:spPr/>
        <p:txBody>
          <a:bodyPr/>
          <a:lstStyle/>
          <a:p>
            <a:r>
              <a:rPr lang="en-US" dirty="0"/>
              <a:t>Frontend: React.js, HTML5, CSS3, JavaScript</a:t>
            </a:r>
          </a:p>
          <a:p>
            <a:r>
              <a:rPr lang="en-US" dirty="0"/>
              <a:t>Backend: Node.js, Express.js</a:t>
            </a:r>
          </a:p>
          <a:p>
            <a:r>
              <a:rPr lang="en-US" dirty="0"/>
              <a:t>Database: </a:t>
            </a:r>
            <a:r>
              <a:rPr lang="en-US" dirty="0" err="1"/>
              <a:t>MySQLAPI</a:t>
            </a:r>
            <a:r>
              <a:rPr lang="en-US" dirty="0"/>
              <a:t>: REST API</a:t>
            </a:r>
          </a:p>
          <a:p>
            <a:r>
              <a:rPr lang="en-US" dirty="0"/>
              <a:t>Code Editor: Visual Studio Code</a:t>
            </a:r>
          </a:p>
          <a:p>
            <a:r>
              <a:rPr lang="en-US" dirty="0"/>
              <a:t>Testing: Postman</a:t>
            </a:r>
          </a:p>
          <a:p>
            <a:r>
              <a:rPr lang="en-US" dirty="0"/>
              <a:t>Browser: Google Chrome / Microsoft Edge</a:t>
            </a:r>
          </a:p>
          <a:p>
            <a:r>
              <a:rPr lang="en-US" dirty="0"/>
              <a:t>Operating System: Windows / Linux / macOS</a:t>
            </a:r>
          </a:p>
        </p:txBody>
      </p:sp>
    </p:spTree>
    <p:extLst>
      <p:ext uri="{BB962C8B-B14F-4D97-AF65-F5344CB8AC3E}">
        <p14:creationId xmlns:p14="http://schemas.microsoft.com/office/powerpoint/2010/main" val="1098968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11</a:t>
            </a:fld>
            <a:endParaRPr lang="en-US" dirty="0"/>
          </a:p>
        </p:txBody>
      </p:sp>
      <p:sp>
        <p:nvSpPr>
          <p:cNvPr id="3" name="TextBox 2">
            <a:extLst>
              <a:ext uri="{FF2B5EF4-FFF2-40B4-BE49-F238E27FC236}">
                <a16:creationId xmlns:a16="http://schemas.microsoft.com/office/drawing/2014/main" id="{72521508-0633-AE1B-1117-485152733568}"/>
              </a:ext>
            </a:extLst>
          </p:cNvPr>
          <p:cNvSpPr txBox="1"/>
          <p:nvPr/>
        </p:nvSpPr>
        <p:spPr>
          <a:xfrm>
            <a:off x="572655" y="1348509"/>
            <a:ext cx="11037453"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t>The Hospital Management &amp; Appointment System provides a centralized and efficient way to manage hospital activities.</a:t>
            </a:r>
          </a:p>
          <a:p>
            <a:pPr marL="342900" indent="-342900">
              <a:buFont typeface="Arial" panose="020B0604020202020204" pitchFamily="34" charset="0"/>
              <a:buChar char="•"/>
            </a:pPr>
            <a:r>
              <a:rPr lang="en-US" sz="2400" dirty="0"/>
              <a:t>It reduces manual work, paperwork, waiting time, and appointment errors.</a:t>
            </a:r>
          </a:p>
          <a:p>
            <a:pPr marL="342900" indent="-342900">
              <a:buFont typeface="Arial" panose="020B0604020202020204" pitchFamily="34" charset="0"/>
              <a:buChar char="•"/>
            </a:pPr>
            <a:r>
              <a:rPr lang="en-US" sz="2400" dirty="0"/>
              <a:t>Using React, Node.js, and MySQL, the system improves communication and data management.</a:t>
            </a:r>
          </a:p>
          <a:p>
            <a:r>
              <a:rPr lang="en-US" sz="2400" b="1" dirty="0"/>
              <a:t>                                                  Future Scope</a:t>
            </a:r>
          </a:p>
          <a:p>
            <a:pPr marL="342900" indent="-342900">
              <a:buFont typeface="Courier New" panose="02070309020205020404" pitchFamily="49" charset="0"/>
              <a:buChar char="o"/>
            </a:pPr>
            <a:r>
              <a:rPr lang="en-US" sz="2400" dirty="0"/>
              <a:t> Develop a mobile application for patients and doctors.</a:t>
            </a:r>
          </a:p>
          <a:p>
            <a:pPr marL="342900" indent="-342900">
              <a:buFont typeface="Courier New" panose="02070309020205020404" pitchFamily="49" charset="0"/>
              <a:buChar char="o"/>
            </a:pPr>
            <a:r>
              <a:rPr lang="en-US" sz="2400" dirty="0"/>
              <a:t> Add SMS/email notifications for appointments and reminders.</a:t>
            </a:r>
          </a:p>
          <a:p>
            <a:pPr marL="342900" indent="-342900">
              <a:buFont typeface="Courier New" panose="02070309020205020404" pitchFamily="49" charset="0"/>
              <a:buChar char="o"/>
            </a:pPr>
            <a:r>
              <a:rPr lang="en-US" sz="2400" dirty="0"/>
              <a:t>Integrate online payment facilities.</a:t>
            </a:r>
          </a:p>
          <a:p>
            <a:pPr marL="342900" indent="-342900">
              <a:buFont typeface="Courier New" panose="02070309020205020404" pitchFamily="49" charset="0"/>
              <a:buChar char="o"/>
            </a:pPr>
            <a:r>
              <a:rPr lang="en-US" sz="2400" dirty="0"/>
              <a:t>Add AI-based health assistance and appointment recommendations.</a:t>
            </a:r>
          </a:p>
          <a:p>
            <a:pPr marL="342900" indent="-342900">
              <a:buFont typeface="Courier New" panose="02070309020205020404" pitchFamily="49" charset="0"/>
              <a:buChar char="o"/>
            </a:pPr>
            <a:r>
              <a:rPr lang="en-US" sz="2400" dirty="0"/>
              <a:t>Move the system to cloud-based hosting for better accessibility and scalability</a:t>
            </a:r>
            <a:r>
              <a:rPr lang="en-US" sz="2000" dirty="0"/>
              <a:t>.</a:t>
            </a:r>
            <a:endParaRPr lang="en-IN" sz="2000" dirty="0"/>
          </a:p>
        </p:txBody>
      </p:sp>
    </p:spTree>
    <p:extLst>
      <p:ext uri="{BB962C8B-B14F-4D97-AF65-F5344CB8AC3E}">
        <p14:creationId xmlns:p14="http://schemas.microsoft.com/office/powerpoint/2010/main" val="1749009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8417</TotalTime>
  <Words>761</Words>
  <Application>Microsoft Office PowerPoint</Application>
  <PresentationFormat>Widescreen</PresentationFormat>
  <Paragraphs>118</Paragraphs>
  <Slides>12</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12</vt:i4>
      </vt:variant>
    </vt:vector>
  </HeadingPairs>
  <TitlesOfParts>
    <vt:vector size="18" baseType="lpstr">
      <vt:lpstr>Arial</vt:lpstr>
      <vt:lpstr>Calibri</vt:lpstr>
      <vt:lpstr>Calibri Light</vt:lpstr>
      <vt:lpstr>Courier New</vt:lpstr>
      <vt:lpstr>Office Theme</vt:lpstr>
      <vt:lpstr>Custom Design</vt:lpstr>
      <vt:lpstr> 1st  REVIEW  HOSPITAL MANAGEMENT &amp; APPOINTMENT SYSTEM </vt:lpstr>
      <vt:lpstr>GROUP NUMBER:3</vt:lpstr>
      <vt:lpstr>ABSTRACT</vt:lpstr>
      <vt:lpstr>INTRDOUCTION</vt:lpstr>
      <vt:lpstr>EXISTING SYSTEM</vt:lpstr>
      <vt:lpstr>PROBLEM</vt:lpstr>
      <vt:lpstr>SOLUTION(Contribution)</vt:lpstr>
      <vt:lpstr>Objectives </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vmyneni71@outlook.com</cp:lastModifiedBy>
  <cp:revision>94</cp:revision>
  <dcterms:created xsi:type="dcterms:W3CDTF">2022-05-20T10:20:31Z</dcterms:created>
  <dcterms:modified xsi:type="dcterms:W3CDTF">2026-10-03T05:02:59Z</dcterms:modified>
</cp:coreProperties>
</file>